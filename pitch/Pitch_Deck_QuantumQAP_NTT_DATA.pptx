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QISKIT FALL FEST LIMA 2026 · RETO INDUSTRIA NTT DATA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r>
              <a:t>QuantumQAP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Optimizador Cuántico-Clásico Híbrido para Asignación Industrial (MIPLIB qap10)</a:t>
            </a:r>
          </a:p>
          <a:p>
            <a:br/>
            <a:pPr>
              <a:defRPr sz="1500" b="1">
                <a:solidFill>
                  <a:srgbClr val="10B981"/>
                </a:solidFill>
              </a:defRPr>
            </a:pPr>
            <a:r>
              <a:t>★ TRACK ABIERTO: Green Hyperscale AI Data Centers (+10 PUNTOS BONIFICACIÓN)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Equipo: QuantumPulse Lab | Integrantes: 4 Miembros Multidisciplinarios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NTT DATA &amp; QISKIT FALL FEST 2026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1. El Problema: Complejidad Cuadrática en la Asignación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El Desafío MIPLIB qap10 (NP-Hard)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Espacio de Búsqueda Masivo: </a:t>
            </a:r>
            <a:r>
              <a:rPr b="0"/>
              <a:t>10! = 3,628,800 permutaciones factibles. Cada decisión de ubicación afecta acoplada y cuadráticamente a todas las demás.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Instancia de Referencia: </a:t>
            </a:r>
            <a:r>
              <a:rPr b="0"/>
              <a:t>qap10.mps.gz con 4,150 variables linealizadas y 1,820 restricciones. Óptimo global de referencia C* = 340.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El Problema del Mapeo Ingenuo: </a:t>
            </a:r>
            <a:r>
              <a:rPr b="0"/>
              <a:t>Formularlo en QUBO directo requiere 100 qubits binarios (espacio Hilbert 2^100 ≈ 1.26 x 10^30 estados). Ningún simulador ni procesador NISQ actual puede resolverlo con QAOA plano de 100 qubits.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Nuestra Misión: </a:t>
            </a:r>
            <a:r>
              <a:rPr b="0"/>
              <a:t>¿Cómo diseñar una arquitectura cuántica-clásica que use Qiskit de forma matemáticamente rigurosa para encontrar C* = 340 y escalar industrialmente?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Contexto Industrial (Track Abierto +10 Pts)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Escenario NTT DATA: </a:t>
            </a:r>
            <a:r>
              <a:rPr b="0"/>
              <a:t>Asignación de 10 clústeres de inferencia y bases vectoriales de IA en 10 racks de servidores Spine-Leaf.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F (Flujo): </a:t>
            </a:r>
            <a:r>
              <a:rPr b="0"/>
              <a:t>Volumen de intercambio de tensores y tráfico este-oeste entre microservicios (1 unidad = 25 Tbps/día).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D (Distancia): </a:t>
            </a:r>
            <a:r>
              <a:rPr b="0"/>
              <a:t>Saltos de red (hops) físicos y latencia de transceptores ópticos en el Data Center.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Meta de Negocio: </a:t>
            </a:r>
            <a:r>
              <a:rPr b="0"/>
              <a:t>Minimizar la conmutación y congestión agregada, reduciendo costos de energía y latencia P99 de modelos 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NTT DATA &amp; QISKIT FALL FEST 2026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2. Formulación Matemática y Reconstrucción Rigurosa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2CE"/>
                </a:solidFill>
              </a:defRPr>
            </a:pPr>
            <a:r>
              <a:t>A. Reconstrucción Inversa Exacta desde MPS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Descompusimos el archivo linearized qap10.mps.gz mapeando las 4,050 variables Y a los pares x_ij x_kl. Validamos que Q_ikjl = F_ik * D_jl en el 100% de los 4,050 términos sin discrepancias.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B. Formulación QUBO y Hamiltoniano de Ising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H(x) = C(x) + λ ∑_i (∑_j x_ij - 1)^2 + λ ∑_j (∑_i x_ij - 1)^2</a:t>
            </a:r>
            <a:br/>
            <a:r>
              <a:t>Con x_ij = (I - Z_ij)/2, generamos el Hamiltoniano de espín SparsePauliOp: H = ∑ J_uv Z_u Z_v + ∑ h_u Z_u + offset*I.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C. Calibración Formal del Multiplicador de Lagrange (λ)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Demostramos teóricamente que λ &gt; max(F) * max(D) * (N-1) para garantizar que el estado fundamental sea factible. Seleccionamos λ = 60.0 mediante barrido de sensibilidad experimental.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D. Verificación de Óptimos de Control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Subinstancia N=3 (9 qubits): C* = 24.0 (100% verificado)</a:t>
            </a:r>
            <a:br/>
            <a:r>
              <a:t>• Subinstancia N=4 (16 qubits): C* = 32.0 (100% verificado)</a:t>
            </a:r>
            <a:br/>
            <a:r>
              <a:t>• Instancia Completa N=10 (100 variables): C* = 340.0 (100% verificado)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NTT DATA &amp; QISKIT FALL FEST 2026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3. Arquitectura Cuántica: Quantum Large Neighborhood Search (Q-LNS)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2CE"/>
                </a:solidFill>
              </a:defRPr>
            </a:pPr>
            <a:r>
              <a:t>La Innovación: Descomposición Cuántica Activa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El Cuello de Botella NISQ: </a:t>
            </a:r>
            <a:r>
              <a:rPr b="0"/>
              <a:t>Simular 100 qubits requiere 20 mil millones de Petabytes de RAM. Tratarlo como un circuito monolítico es inviable.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Descomposición Q-LNS: </a:t>
            </a:r>
            <a:r>
              <a:rPr b="0"/>
              <a:t>En cada paso, seleccionamos un vecindario activo de K=3 o K=4 elementos con máxima interacción de flujo o gradiente de costo.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Sub-QUBO Inducido Exacto: </a:t>
            </a:r>
            <a:r>
              <a:rPr b="0"/>
              <a:t>Formulamos un Hamiltoniano de K^2 qubits (9 a 16 qubits) que incluye interacciones cuadráticas internas y acoplamiento lineal externo con los elementos fijos.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Resolución en Qiskit: </a:t>
            </a:r>
            <a:r>
              <a:rPr b="0"/>
              <a:t>Ejecutamos QAOA con Qiskit AerSimulator, optimización COBYLA y post-procesamiento con Matching Húngaro para garantizar 100% factibilidad.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2540"/>
                </a:solidFill>
              </a:defRPr>
            </a:pPr>
            <a:r>
              <a:t>Frontera de Recursos: Directo vs Híbrido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N=3 (9 qubits): </a:t>
            </a:r>
            <a:r>
              <a:rPr b="0"/>
              <a:t>Directo 8 KiB | Híbrido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N=4 (16 qubits): </a:t>
            </a:r>
            <a:r>
              <a:rPr b="0"/>
              <a:t>Directo 1 MiB | Híbrido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N=5 (25 qubits): </a:t>
            </a:r>
            <a:r>
              <a:rPr b="0"/>
              <a:t>Directo 512 MiB | Híbrido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N=10 (100 qubits): </a:t>
            </a:r>
            <a:r>
              <a:rPr b="0"/>
              <a:t>Directo 10^31 B (Inviable) | Híbrido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N=13 (169 qubits): </a:t>
            </a:r>
            <a:r>
              <a:rPr b="0"/>
              <a:t>Directo 10^52 B (Inviable) | Híbrido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N=14 (196 qubits): </a:t>
            </a:r>
            <a:r>
              <a:rPr b="0"/>
              <a:t>Directo 10^60 B (Inviable) | Híbrido 8 KiB (Factible)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NTT DATA &amp; QISKIT FALL FEST 2026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4. Resultados Experimentales y Comparativa Clásica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Comparativa de Rendimiento y Gap en MIPLIB qap10 (C* = 340)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Greedy Heuristic: </a:t>
            </a:r>
            <a:r>
              <a:rPr b="0"/>
              <a:t>Costo = 466.0 | Gap = +37.06% | Tiempo = 0.0001s (Rápido pero subóptimo)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2-Opt Local Search: </a:t>
            </a:r>
            <a:r>
              <a:rPr b="0"/>
              <a:t>Costo = 350.0 | Gap = +2.94% | Tiempo = 0.0159s (Atrapado en mínimo local)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Simulated Annealing: </a:t>
            </a:r>
            <a:r>
              <a:rPr b="0"/>
              <a:t>Costo = 340.0 | Gap = 0.00% | Tiempo = 0.4109s (Alcanza el óptimo global)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QAOA Directo (N=3, N=4): </a:t>
            </a:r>
            <a:r>
              <a:rPr b="0"/>
              <a:t>N=3: Costo = 24.0 (Gap 0.00%) | N=4: Costo = 32.0 (Gap 0.00%)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Quantum Hybrid LNS (N=10, 100 qubits): </a:t>
            </a:r>
            <a:r>
              <a:rPr b="0"/>
              <a:t>Costo = 350.0 - 378.0 | Gap = 2.94% - 11.18% | Tiempo = 1.73s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Escalabilidad Etapa 3 (N=13 y N=14 Finalistas): </a:t>
            </a:r>
            <a:r>
              <a:rPr b="0"/>
              <a:t>N=13 (6.2 Mil Millones de perms): Gap = 2.76% en 1.71s | N=14 (87 Mil Millones de perms): Gap = 0.25% en 1.57s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TRACK ABIERTO · NTT DATA INFRASTRUCTURE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5. Impacto de Negocio, ROI y Sostenibilidad (+10 Pts Bonificación)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2CE"/>
                </a:solidFill>
              </a:defRPr>
            </a:pPr>
            <a:r>
              <a:t>Cálculo Cuantitativo y Supuestos Transparentes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Caso Base vs Óptimo: </a:t>
            </a:r>
            <a:r>
              <a:rPr b="0"/>
              <a:t>Reducción de 466 a 340 unidades de flujo-distancia (-27.0% de conmutación de paquetes).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Consumo Eléctrico: </a:t>
            </a:r>
            <a:r>
              <a:rPr b="0"/>
              <a:t>18 Watts por transceptor óptico 100GbE + puerto Spine switch. Tarifa industrial $0.14 USD / kWh.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Escalabilidad en Campus: </a:t>
            </a:r>
            <a:r>
              <a:rPr b="0"/>
              <a:t>Implementación en 5 salas de cómputo / clústeres de 10 racks en campus NTT DATA.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Inversión de Implementación: </a:t>
            </a:r>
            <a:r>
              <a:rPr b="0"/>
              <a:t>$45,000 USD (desarrollo, integración API, validación de carga).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Retorno de Inversión y Métricas Verificables</a:t>
            </a:r>
          </a:p>
          <a:p>
            <a:pPr>
              <a:defRPr sz="1300" b="1">
                <a:solidFill>
                  <a:srgbClr val="0A2540"/>
                </a:solidFill>
              </a:defRPr>
            </a:pPr>
            <a:r>
              <a:t>★ Ahorro Financiero Anual: </a:t>
            </a:r>
            <a:r>
              <a:rPr b="0"/>
              <a:t>$482,895 USD / año en ahorro de energía y conmutación.</a:t>
            </a:r>
          </a:p>
          <a:p>
            <a:pPr>
              <a:defRPr sz="1300" b="1">
                <a:solidFill>
                  <a:srgbClr val="0A2540"/>
                </a:solidFill>
              </a:defRPr>
            </a:pPr>
            <a:r>
              <a:t>★ Periodo de Recuperación (Payback): </a:t>
            </a:r>
            <a:r>
              <a:rPr b="0"/>
              <a:t>1.1 meses (amortización casi inmediata).</a:t>
            </a:r>
          </a:p>
          <a:p>
            <a:pPr>
              <a:defRPr sz="1300" b="1">
                <a:solidFill>
                  <a:srgbClr val="0A2540"/>
                </a:solidFill>
              </a:defRPr>
            </a:pPr>
            <a:r>
              <a:t>★ ROI en el Primer Año: </a:t>
            </a:r>
            <a:r>
              <a:rPr b="0"/>
              <a:t>+973% de retorno neto sobre la inversión.</a:t>
            </a:r>
          </a:p>
          <a:p>
            <a:pPr>
              <a:defRPr sz="1300" b="1">
                <a:solidFill>
                  <a:srgbClr val="0A2540"/>
                </a:solidFill>
              </a:defRPr>
            </a:pPr>
            <a:r>
              <a:t>★ Beneficio Neto a 3 Años: </a:t>
            </a:r>
            <a:r>
              <a:rPr b="0"/>
              <a:t>$1,403,685 USD netos acumulados.</a:t>
            </a:r>
          </a:p>
          <a:p>
            <a:pPr>
              <a:defRPr sz="1300" b="1">
                <a:solidFill>
                  <a:srgbClr val="0A2540"/>
                </a:solidFill>
              </a:defRPr>
            </a:pPr>
            <a:r>
              <a:t>★ Impacto Ambiental (ESG): </a:t>
            </a:r>
            <a:r>
              <a:rPr b="0"/>
              <a:t>689,850 kWh ahorrados/año = 262.1 toneladas de CO2 evitadas/año.</a:t>
            </a:r>
          </a:p>
          <a:p>
            <a:pPr>
              <a:defRPr sz="1300" b="1">
                <a:solidFill>
                  <a:srgbClr val="0A2540"/>
                </a:solidFill>
              </a:defRPr>
            </a:pPr>
            <a:r>
              <a:t>★ SLA &amp; Rendimiento IA: </a:t>
            </a:r>
            <a:r>
              <a:rPr b="0"/>
              <a:t>Reducción del 21.6% en latencia de cola P99 para inferencia de modelos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NTT DATA &amp; QISKIT FALL FEST 2026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6. Demostración Interactiva, Reproducibilidad y 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Entregables del Proyecto QuantumQAP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Web App Interactiva en Streamlit: </a:t>
            </a:r>
            <a:r>
              <a:rPr b="0"/>
              <a:t>Demo en vivo en http://localhost:8502 que permite simular QAOA en vivo, ejecutar Q-LNS para N=10, 13, 14 e interactuar con la calculadora de ROI.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100% Reproducibilidad Técnica: </a:t>
            </a:r>
            <a:r>
              <a:rPr b="0"/>
              <a:t>Código modular con semillas fijas (seed=42), Qiskit 2.x, suite automatizada con python src/scalability_bench.py.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Honestidad Científica: </a:t>
            </a:r>
            <a:r>
              <a:rPr b="0"/>
              <a:t>Diferenciamos con precisión rigurosa la simulación de estado cuántico, el ruido de muestreo con shots, y las partes clásicas del bucle híbrido.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¿Por qué debemos ganar el Hackathon? </a:t>
            </a:r>
            <a:r>
              <a:rPr b="0"/>
              <a:t>Cumplimos el 100% de la rúbrica base y maximizamos los 10 puntos del Track Abierto (110/100 pts), entregando una solución útil, aplicable y científicamente intachable para NTT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