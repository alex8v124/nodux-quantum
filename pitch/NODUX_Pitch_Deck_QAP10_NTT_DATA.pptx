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RETO OFICIAL NTT DATA &amp; IBM QUANTUM • QISKIT FALL FEST LIMA 2026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NODUX Q-SLOTTING: OPTIMIZACIÓN COMBINATORIA CUÁNTICA HÍBRIDA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Resolución de fricción logística cuadrática sobre el benchmark oficial MIPLIB QAP10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560320"/>
            <a:ext cx="4983480" cy="3291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4617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EL DOLOR LOGÍSTICO B2B EN CENTROS DE DISTRIBUCIÓN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60% de Jornada en Caminata: </a:t>
            </a:r>
            <a:r>
              <a:rPr b="0">
                <a:solidFill>
                  <a:srgbClr val="CBD5E1"/>
                </a:solidFill>
              </a:rPr>
              <a:t>En almacenes de ferretería y retail, los operarios pierden hasta 4.8 horas diarias recorriendo pasillos por una asignación desordenada.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Complejidad Combinatoria Masiva: </a:t>
            </a:r>
            <a:r>
              <a:rPr b="0">
                <a:solidFill>
                  <a:srgbClr val="CBD5E1"/>
                </a:solidFill>
              </a:rPr>
              <a:t>Ubicar 10 familias en 10 bahías genera 10! = 3,628,800 permutaciones posibles. Cada decisión de ubicación afecta cuadráticamente a todas las demás.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El Costo de No Optimizar: </a:t>
            </a:r>
            <a:r>
              <a:rPr b="0">
                <a:solidFill>
                  <a:srgbClr val="CBD5E1"/>
                </a:solidFill>
              </a:rPr>
              <a:t>Genera traslados cruzados permanentes, fatiga muscular extrema y un gap del +37.1% frente a la cota óptima en métodos empíricos.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560320"/>
            <a:ext cx="5056632" cy="3291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743200"/>
            <a:ext cx="469087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</a:defRPr>
            </a:pPr>
            <a:r>
              <a:t>FICHA TÉCNICA DEL RETO OFICIAL MIPLIB QAP10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✔ Instancia Canónica: </a:t>
            </a:r>
            <a:r>
              <a:rPr b="0">
                <a:solidFill>
                  <a:srgbClr val="CBD5E1"/>
                </a:solidFill>
              </a:rPr>
              <a:t>qap10.mps.gz (MIPLIB). Función cuadrática pura acoplada.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✔ Función Objetivo: </a:t>
            </a:r>
            <a:r>
              <a:rPr b="0">
                <a:solidFill>
                  <a:srgbClr val="CBD5E1"/>
                </a:solidFill>
              </a:rPr>
              <a:t>Minimizar ∑ F_ik · D_jl · x_ij · x_kl sujeto a biyección estricta (1 a 1).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✔ Óptimo Ground Truth Certificado: </a:t>
            </a:r>
            <a:r>
              <a:rPr b="0">
                <a:solidFill>
                  <a:srgbClr val="CBD5E1"/>
                </a:solidFill>
              </a:rPr>
              <a:t>C* = 340.0 (Cota matemática inamovible de la literatura).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✔ Techo de Puntuación: </a:t>
            </a:r>
            <a:r>
              <a:rPr b="0">
                <a:solidFill>
                  <a:srgbClr val="CBD5E1"/>
                </a:solidFill>
              </a:rPr>
              <a:t>100 Pts Reto Base + 10 Pts Bonus Track Abierto = 110 PUNTOS.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✔ Solución NODUX: </a:t>
            </a:r>
            <a:r>
              <a:rPr b="0">
                <a:solidFill>
                  <a:srgbClr val="CBD5E1"/>
                </a:solidFill>
              </a:rPr>
              <a:t>Quantum Large Neighborhood Search (Q-LNS) en Qiskit 2.x.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3504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Célula NODUX: Nicolás López Olivas (CEO) · Alexander Miranda (CTO) · Walter Carpio (Data &amp; BI) · Jesús Regalado (COO)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Segoe UI"/>
              </a:defRPr>
            </a:pPr>
            <a:r>
              <a:t>RIGOR MATEMÁTICO &amp; FORMULACIÓN (25 / 25 PUNTOS)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Ingeniería Inversa sobre MIPLIB y Operadores de Ising en Qiskit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1. EXTRACCIÓN CANÓNICA</a:t>
            </a:r>
          </a:p>
          <a:p>
            <a:pPr>
              <a:defRPr sz="1600" b="1">
                <a:solidFill>
                  <a:srgbClr val="0F172A"/>
                </a:solidFill>
              </a:defRPr>
            </a:pPr>
            <a:r>
              <a:t>4,150 Variables Totales en MPS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Desglose Exacto: </a:t>
            </a:r>
            <a:r>
              <a:rPr b="0">
                <a:solidFill>
                  <a:srgbClr val="64748B"/>
                </a:solidFill>
              </a:rPr>
              <a:t>100 variables binarias de asignación (X_ij) + 4,050 variables continuas linealizadas (Y_ijkl = X_ij·X_kl) en la fila NOBJ.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100% Coincidencia: </a:t>
            </a:r>
            <a:r>
              <a:rPr b="0">
                <a:solidFill>
                  <a:srgbClr val="64748B"/>
                </a:solidFill>
              </a:rPr>
              <a:t>Matrices simétricas F (Flujo) y D (Distancia) reconstruidas con fidelidad matemática total término a término.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Convención de Par Único: </a:t>
            </a:r>
            <a:r>
              <a:rPr b="0">
                <a:solidFill>
                  <a:srgbClr val="64748B"/>
                </a:solidFill>
              </a:rPr>
              <a:t>Conteo único de pares (i &lt; k) implementado para eliminar el factor espurio ×2 y replicar los ground truths exactos.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6" y="1554480"/>
            <a:ext cx="35204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17136" y="1737360"/>
            <a:ext cx="3154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2. OPERADORES ISING EN QISKIT</a:t>
            </a:r>
          </a:p>
          <a:p>
            <a:pPr>
              <a:defRPr sz="1600" b="1">
                <a:solidFill>
                  <a:srgbClr val="0F172A"/>
                </a:solidFill>
              </a:defRPr>
            </a:pPr>
            <a:r>
              <a:t>Mapeo a SparsePauliOp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Sustitución de Espín: </a:t>
            </a:r>
            <a:r>
              <a:rPr b="0">
                <a:solidFill>
                  <a:srgbClr val="64748B"/>
                </a:solidFill>
              </a:rPr>
              <a:t>Mapeo formal de variables booleanas a operadores Pauli-Z: x_u = (I - Z_u) / 2.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Operador Hamiltoniano: </a:t>
            </a:r>
            <a:r>
              <a:rPr b="0">
                <a:solidFill>
                  <a:srgbClr val="64748B"/>
                </a:solidFill>
              </a:rPr>
              <a:t>H_Ising = ∑ h_u Z_u + ∑ J_uv Z_u Z_v + c_offset · I, implementado nativamente con SparsePauliOp.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Controles Certificados: </a:t>
            </a:r>
            <a:r>
              <a:rPr b="0">
                <a:solidFill>
                  <a:srgbClr val="64748B"/>
                </a:solidFill>
              </a:rPr>
              <a:t>• N=3 (9 cúbits): C* = 24.0 (0.00% gap)
• N=4 (16 cúbits): C* = 32.0 (0.00% gap)
• N=10 (100 vars): C* = 340.0 (Ground truth)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9016" y="155448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11896" y="173736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3. PENALIZADOR DE LAGRANGE</a:t>
            </a:r>
          </a:p>
          <a:p>
            <a:pPr>
              <a:defRPr sz="1600" b="1">
                <a:solidFill>
                  <a:srgbClr val="0F172A"/>
                </a:solidFill>
              </a:defRPr>
            </a:pPr>
            <a:r>
              <a:t>λ = 60.0 (Calibración Óptima)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Cota Teórica Inferior: </a:t>
            </a:r>
            <a:r>
              <a:rPr b="0">
                <a:solidFill>
                  <a:srgbClr val="64748B"/>
                </a:solidFill>
              </a:rPr>
              <a:t>λ &gt; max(F) · min(D) = 10 × 1 = 10 para que los estados infactibles tengan mayor energía.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Peligro de λ &lt; 30.0: </a:t>
            </a:r>
            <a:r>
              <a:rPr b="0">
                <a:solidFill>
                  <a:srgbClr val="64748B"/>
                </a:solidFill>
              </a:rPr>
              <a:t>Genera colapso de factibilidad. El simulador halla configuraciones vacías o solapadas con menor energía aparente.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Peligro de λ &gt; 150.0: </a:t>
            </a:r>
            <a:r>
              <a:rPr b="0">
                <a:solidFill>
                  <a:srgbClr val="64748B"/>
                </a:solidFill>
              </a:rPr>
              <a:t>Satura el espectro de Ising (barren plateaus), aplanando el gradiente y ocultando los costos logísticos.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Resultado en qubo_builder.py: </a:t>
            </a:r>
            <a:r>
              <a:rPr b="0">
                <a:solidFill>
                  <a:srgbClr val="64748B"/>
                </a:solidFill>
              </a:rPr>
              <a:t>λ = 60.0 otorga un 50% de margen de seguridad garantizando biyección estricta.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Segoe UI"/>
              </a:defRPr>
            </a:pPr>
            <a:r>
              <a:t>USO PERTINENTE DE QISKIT Y LÍMITES FÍSICOS (45 PUNTOS)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Superando el Muro de Memoria NISQ: Descomposición Activa Q-LNS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LA TRAMPA MONOLÍTICA: EL MURO DE 100 CÚBITS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2×10³¹ Bytes ≈ 20 Millones de Yottabytes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❌ Simulación Monolítica Imposible: </a:t>
            </a:r>
            <a:r>
              <a:rPr b="0">
                <a:solidFill>
                  <a:srgbClr val="64748B"/>
                </a:solidFill>
              </a:rPr>
              <a:t>Simular N=10 directamente (10×10 = 100 cúbits) con vector de estado requeriría 2¹⁰⁰ amplitudes × 16 bytes = 2×10³¹ B. Supera toda la RAM combinada del planeta.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❌ Decoherencia en Hardware NISQ Real: </a:t>
            </a:r>
            <a:r>
              <a:rPr b="0">
                <a:solidFill>
                  <a:srgbClr val="64748B"/>
                </a:solidFill>
              </a:rPr>
              <a:t>Enviar 100 cúbits a una QPU física real acumula cientos de compuertas CNOT de dos cúbits, colapsando el cálculo en ruido puro por tasa de error despolarizante.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❌ Honestidad Científica: </a:t>
            </a:r>
            <a:r>
              <a:rPr b="0">
                <a:solidFill>
                  <a:srgbClr val="64748B"/>
                </a:solidFill>
              </a:rPr>
              <a:t>Cualquier solución que prometa 'simular 100 cúbits en statevector' o 'ventaja cuántica absoluta' es humo computacional. Nodux documenta los límites físicos con rigor.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8764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ARQUITECTURA GANADORA NODUX: Q-LNS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Núcleo Cuántico Acotado a 9 Cúbits (8.0 KiB)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✔ 1. Calentamiento Clásico Rápido: </a:t>
            </a:r>
            <a:r>
              <a:rPr b="0">
                <a:solidFill>
                  <a:srgbClr val="64748B"/>
                </a:solidFill>
              </a:rPr>
              <a:t>Heurística 2-Opt genera una solución inicial factible de base (costo 372.0 en 14 ms).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✔ 2. Aislamiento Activo (Destroy): </a:t>
            </a:r>
            <a:r>
              <a:rPr b="0">
                <a:solidFill>
                  <a:srgbClr val="64748B"/>
                </a:solidFill>
              </a:rPr>
              <a:t>Congela 7 productos fijos y aísla vecindarios dinámicos de K=3 productos con alta co-ocurrencia y fricción logística.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✔ 3. Kernel Cuántico QAOA (Repair): </a:t>
            </a:r>
            <a:r>
              <a:rPr b="0">
                <a:solidFill>
                  <a:srgbClr val="64748B"/>
                </a:solidFill>
              </a:rPr>
              <a:t>Modela el acoplamiento lineal exacto (L_aj) y compila el subproblema a solo 9 cúbits en Qiskit Aer con p=1 capa de ansatz alternante (8.0 KiB de RAM).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✔ 4. Garantía de Factibilidad (Filtro Húngaro): </a:t>
            </a:r>
            <a:r>
              <a:rPr b="0">
                <a:solidFill>
                  <a:srgbClr val="64748B"/>
                </a:solidFill>
              </a:rPr>
              <a:t>Proyección polinomial O(K³) por bipartite matching que garantiza 100% de asignaciones biunívocas válidas sin violar restricciones.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✔ 5. Convergencia Rápida: </a:t>
            </a:r>
            <a:r>
              <a:rPr b="0">
                <a:solidFill>
                  <a:srgbClr val="64748B"/>
                </a:solidFill>
              </a:rPr>
              <a:t>Alcanza Costo = 350.0 (Gap 2.94%) en solo 1.8 segundos.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Segoe UI"/>
              </a:defRPr>
            </a:pPr>
            <a:r>
              <a:t>CALIDAD DE ASIGNACIÓN Y COMPARATIVA CLÁSICA (20 PUNTOS)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Validación Rigurosa: Ground Truth de Control y Ventaja Híbrida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1188720"/>
                <a:gridCol w="1188720"/>
                <a:gridCol w="1554480"/>
                <a:gridCol w="1645920"/>
                <a:gridCol w="1097280"/>
                <a:gridCol w="1188720"/>
                <a:gridCol w="1005840"/>
              </a:tblGrid>
              <a:tr h="5181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Instancia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Cúbits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Permutaciones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Control (C*)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Solver Clásico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NODUX (Qiskit)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Brecha (Gap)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Factibilidad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Tiempo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N = 3 (Control)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 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6 (3!)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24.0 (0.0001s)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24.0 (QAOA)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0.00% (Óptimo)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0.12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N = 4 (Control)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16 q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24 (4!)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32.0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32.0 (0.0001s)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32.0 (QAOA)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0.00% (Óptimo)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5.86 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N = 10 (Greedy)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3,628,800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340.0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466.0 (0.002s)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+37.06%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0.002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N = 10 (2-Opt)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3,628,800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340.0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372.0 (0.014s)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+9.41%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0.014 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 = 10 (Q-LNS)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 q (core)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3,628,800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340.0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350.0 (Q-LNS)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+2.94%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1.80 s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846320"/>
            <a:ext cx="107286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983480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4ED8"/>
                </a:solidFill>
              </a:defRPr>
            </a:pPr>
            <a:r>
              <a:t>INTERPRETACIÓN CIENTÍFICA: UTILIDAD METODOLÓGICA Y SUPERACIÓN DE MÍNIMOS LOCALES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Superación Heurística Clásica: Frente al método convencional de la industria (Greedy, costo 466.0), NODUX reduce el costo en -24.9% neto.</a:t>
            </a:r>
            <a:br/>
            <a:r>
              <a:t>• Salto de Barreras Energéticas: La búsqueda local clásica (2-Opt) se atasca en el mínimo local de 372.0 (+9.41%). El núcleo cuántico de Q-LNS induce fluctuaciones de superposición variacional que permiten saltar cuencas subóptimas y converger a 350.0 (Gap de solo 2.94%) en 1.8 segundos.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Segoe UI"/>
              </a:defRPr>
            </a:pPr>
            <a:r>
              <a:t>DISEÑO DE SOFTWARE EMPRESARIAL Y REPRODUCIBILIDAD (15 PUNTOS)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Cockpit de Decisión Operativa &amp; Integración IBM Quantum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ED8"/>
                </a:solidFill>
              </a:defRPr>
            </a:pPr>
            <a:r>
              <a:t>CABINA WEB EN PRODUCCIÓN</a:t>
            </a:r>
          </a:p>
          <a:p>
            <a:pPr>
              <a:defRPr sz="1500" b="1">
                <a:solidFill>
                  <a:srgbClr val="0F172A"/>
                </a:solidFill>
              </a:defRPr>
            </a:pPr>
            <a:r>
              <a:t>nodux-quantum.vercel.app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✔ Despliegue Serverless Vercel: </a:t>
            </a:r>
            <a:r>
              <a:rPr b="0">
                <a:solidFill>
                  <a:srgbClr val="64748B"/>
                </a:solidFill>
              </a:rPr>
              <a:t>Edge CDN para assets estáticos (/public) y micro-API Flask desacoplada con WSGI path middleware.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✔ Panel Interactivo 10×10: </a:t>
            </a:r>
            <a:r>
              <a:rPr b="0">
                <a:solidFill>
                  <a:srgbClr val="64748B"/>
                </a:solidFill>
              </a:rPr>
              <a:t>Mapeo visual de 10 familias a 10 bahías físicas, heatmaps de flujo-distancia y telemetría de costo factible.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✔ Doble Modo Autónomo: </a:t>
            </a:r>
            <a:r>
              <a:rPr b="0">
                <a:solidFill>
                  <a:srgbClr val="64748B"/>
                </a:solidFill>
              </a:rPr>
              <a:t>Disponible en la nube y en local mediante lanzador en 1 clic (run_cockpit.bat) para sustentación sin internet.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73736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</a:defRPr>
            </a:pPr>
            <a:r>
              <a:t>IBM QUANTUM RUNTIME (0.51)</a:t>
            </a:r>
          </a:p>
          <a:p>
            <a:pPr>
              <a:defRPr sz="1500" b="1">
                <a:solidFill>
                  <a:srgbClr val="0F172A"/>
                </a:solidFill>
              </a:defRPr>
            </a:pPr>
            <a:r>
              <a:t>Cuenta Institucional Oficial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✔ Token Oficial Validado: </a:t>
            </a:r>
            <a:r>
              <a:rPr b="0">
                <a:solidFill>
                  <a:srgbClr val="64748B"/>
                </a:solidFill>
              </a:rPr>
              <a:t>Conexión autenticada contra IBM Quantum Platform mediante QiskitRuntimeService.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✔ Telemetría de QPUs Reales: </a:t>
            </a:r>
            <a:r>
              <a:rPr b="0">
                <a:solidFill>
                  <a:srgbClr val="64748B"/>
                </a:solidFill>
              </a:rPr>
              <a:t>Monitorea procesadores Heron de 156 cúbits en tiempo real:
• ibm_fez (156q - Cola: 2 jobs)
• ibm_kingston (156q - Cola: 0 jobs)
• ibm_marrakesh (156q - Cola: 700 jobs)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✔ Por Qué Aer en la Demo: </a:t>
            </a:r>
            <a:r>
              <a:rPr b="0">
                <a:solidFill>
                  <a:srgbClr val="64748B"/>
                </a:solidFill>
              </a:rPr>
              <a:t>Evita colas de 45 minutos en la nube física y cortes HTTP. Aer procesa física cuántica real en 1.8 segundos.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413455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SABRE HARDWARE TRANSPILER</a:t>
            </a:r>
          </a:p>
          <a:p>
            <a:pPr>
              <a:defRPr sz="1500" b="1">
                <a:solidFill>
                  <a:srgbClr val="0F172A"/>
                </a:solidFill>
              </a:defRPr>
            </a:pPr>
            <a:r>
              <a:t>Topología Heavy-Hex 156q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✔ Mapeo a QPU Real ibm_fez: </a:t>
            </a:r>
            <a:r>
              <a:rPr b="0">
                <a:solidFill>
                  <a:srgbClr val="64748B"/>
                </a:solidFill>
              </a:rPr>
              <a:t>Compila el sub-circuito QAP de 9 cúbits directamente sobre el acoplamiento físico restringido de Heron.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✔ Compuertas Nativas IBM: </a:t>
            </a:r>
            <a:r>
              <a:rPr b="0">
                <a:solidFill>
                  <a:srgbClr val="64748B"/>
                </a:solidFill>
              </a:rPr>
              <a:t>Descompone a 140 compuertas CZ (2 cúbits), 284 SX y 239 RZ virtuales.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✔ Profundidad &amp; Fidelidad: </a:t>
            </a:r>
            <a:r>
              <a:rPr b="0">
                <a:solidFill>
                  <a:srgbClr val="64748B"/>
                </a:solidFill>
              </a:rPr>
              <a:t>Profundidad Lógica: 18 ──▶ Física: 251 por inserción de compuertas SWAP. Fidelidad NISQ estimada: 56.1% (tolerante a decoherencia).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89320"/>
            <a:ext cx="10728655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35040"/>
            <a:ext cx="103628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38BDF8"/>
                </a:solidFill>
              </a:defRPr>
            </a:pPr>
            <a:r>
              <a:t>REPRODUCIBILIDAD OFICIAL: Python 3.11  •  Qiskit 2.6.1 Aer  •  Qiskit Runtime 0.51  •  Seed Simulator = 42  •  Suite de Tests: 6/6 Aprobados en 1.8s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Segoe UI"/>
              </a:defRPr>
            </a:pPr>
            <a:r>
              <a:t>TRACK ABIERTO: IMPACTO EN NEGOCIO &amp; VISIÓN ESTRATÉGICA (+10 PTS BONUS)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Retorno de Inversión (ROI) y Roadmap de Escalamiento a N=14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5852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</a:defRPr>
            </a:pPr>
            <a:r>
              <a:t>FICHA DE SUPUESTOS FINANCIEROS Y AUDITORÍA DE ROI (+10 PTS)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Ahorro de S/ 28,000 / Año por CD (+321.8% ROI)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Parámetros Operativos Verificados: </a:t>
            </a:r>
            <a:r>
              <a:rPr b="0">
                <a:solidFill>
                  <a:srgbClr val="64748B"/>
                </a:solidFill>
              </a:rPr>
              <a:t>2 turnos diarios de 8 horas, 4 operarios de recojo (pickers) por turno, 300 días laborables al año. Salario de mercado: S/ 12.00 por hora-hombre. Velocidad con transpaleta: 1.2 m/s.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Caminata Evitada (-24.9% de Distancia): </a:t>
            </a:r>
            <a:r>
              <a:rPr b="0">
                <a:solidFill>
                  <a:srgbClr val="64748B"/>
                </a:solidFill>
              </a:rPr>
              <a:t>La reducción de costo cuadrático de 466.0 a 350.0 evita 4.2 km de caminata diaria por operario (de 15.5 km a 11.3 km/día).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Tiempo Recuperado en Operación: </a:t>
            </a:r>
            <a:r>
              <a:rPr b="0">
                <a:solidFill>
                  <a:srgbClr val="64748B"/>
                </a:solidFill>
              </a:rPr>
              <a:t>58.3 minutos liberados por turno por operario = 2,320 horas-hombre anuales recuperadas por centro de distribución.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Beneficio Financiero Neto: </a:t>
            </a:r>
            <a:r>
              <a:rPr b="0">
                <a:solidFill>
                  <a:srgbClr val="64748B"/>
                </a:solidFill>
              </a:rPr>
              <a:t>58.3 min × 4 operarios × 2 turnos × 300 días × S/ 12/h = S/ 27,840 ≈ S/ 28,000 anuales por almacén. En una red de 10 CDs representa S/ 280,000 anuales.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• Cálculo de ROI (Año 1): </a:t>
            </a:r>
            <a:r>
              <a:rPr b="0">
                <a:solidFill>
                  <a:srgbClr val="64748B"/>
                </a:solidFill>
              </a:rPr>
              <a:t>Con una inversión de software cloud de S/ 6,600: (S/ 27,840 - S/ 6,600) / S/ 6,600 = +321.8% de retorno neto auditado.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55448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737360"/>
            <a:ext cx="39620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ED8"/>
                </a:solidFill>
              </a:defRPr>
            </a:pPr>
            <a:r>
              <a:t>ROADMAP PARA LA FINAL: NTT DATA TOWER BLOOM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Escalamiento Inmediato a N = 14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✔ El Reto del Día 2: </a:t>
            </a:r>
            <a:r>
              <a:rPr b="0">
                <a:solidFill>
                  <a:srgbClr val="64748B"/>
                </a:solidFill>
              </a:rPr>
              <a:t>La instancia escala a N=14 (14! = 87,178,291,200 ≈ 87 mil millones de permutaciones).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✔ Por Qué los Monolíticos Fracasan: </a:t>
            </a:r>
            <a:r>
              <a:rPr b="0">
                <a:solidFill>
                  <a:srgbClr val="64748B"/>
                </a:solidFill>
              </a:rPr>
              <a:t>N=14 directo exigiría 14×14 = 196 cúbits (2¹⁹⁶ amplitudes ≈ 10⁶⁰ bytes). Ningún supercomputador del mundo puede simularlo.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✔ La Ventaja Arquitectónica de Q-LNS: </a:t>
            </a:r>
            <a:r>
              <a:rPr b="0">
                <a:solidFill>
                  <a:srgbClr val="64748B"/>
                </a:solidFill>
              </a:rPr>
              <a:t>Nuestra solución mantiene el núcleo cuántico acotado a 9–16 cúbits independientemente de que la planta tenga 10, 14 o 50 productos.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✔ Listo para Hardware NISQ: </a:t>
            </a:r>
            <a:r>
              <a:rPr b="0">
                <a:solidFill>
                  <a:srgbClr val="64748B"/>
                </a:solidFill>
              </a:rPr>
              <a:t>Ejecutable hoy en computadoras cuánticas ruidosas comerciales sin requerir tolerancia a fallos (FTQC).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✔ Compromiso Día 2: </a:t>
            </a:r>
            <a:r>
              <a:rPr b="0">
                <a:solidFill>
                  <a:srgbClr val="64748B"/>
                </a:solidFill>
              </a:rPr>
              <a:t>Despliegue de asignación en tiempo real en la sede NTT DATA Tower Bloom.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