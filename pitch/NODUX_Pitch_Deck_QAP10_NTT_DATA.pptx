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solidFill>
              <a:srgbClr val="0A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4D8"/>
                </a:solidFill>
              </a:defRPr>
            </a:pPr>
            <a:r>
              <a:t>NODUX • QISKIT FALL FEST LIMA 2026 · RETO INDUSTRIA NTT DATA</a:t>
            </a:r>
          </a:p>
          <a:p>
            <a:pPr>
              <a:defRPr sz="4600" b="1">
                <a:solidFill>
                  <a:srgbClr val="FFFFFF"/>
                </a:solidFill>
              </a:defRPr>
            </a:pPr>
            <a:r>
              <a:t>NODUX QAP10</a:t>
            </a:r>
          </a:p>
          <a:p>
            <a:pPr>
              <a:defRPr sz="2000">
                <a:solidFill>
                  <a:srgbClr val="E2E8F0"/>
                </a:solidFill>
              </a:defRPr>
            </a:pPr>
            <a:r>
              <a:t>Optimización Cuántica e Híbrida de un Problema de Asignación Cuadrática (MIPLIB qap10)</a:t>
            </a:r>
          </a:p>
          <a:p>
            <a:br/>
            <a:pPr>
              <a:defRPr sz="1500" b="1">
                <a:solidFill>
                  <a:srgbClr val="10B981"/>
                </a:solidFill>
              </a:defRPr>
            </a:pPr>
            <a:r>
              <a:t>★ JUGADA DE BONIFICACIÓN: Optimización de Almacén B2B y Picking de Alta Rotación (+10 PTS)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Célula: Nicolás López (CEO) · Alexander Miranda (CTO) · Walter Carpio (Data &amp; BI) · Jesús Regalado (COO)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NODUX • IBM QUANTUM HACKATHON 2026 | RETO NTT DATA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1. El Reto: Asignación B2B y el Problema QAP10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2CE"/>
                </a:solidFill>
              </a:defRPr>
            </a:pPr>
            <a:r>
              <a:t>El Desafío MIPLIB qap10 (NP-Hard)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Espacio de Búsqueda Masivo: </a:t>
            </a:r>
            <a:r>
              <a:rPr b="0"/>
              <a:t>10! = 3,628,800 permutaciones factibles. Cada decisión de ubicación acopla cuadráticamente a todas las demás.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Ground Truth Matemático: </a:t>
            </a:r>
            <a:r>
              <a:rPr b="0"/>
              <a:t>Instancia oficial qap10.mps con 4,150 variables linealizadas. Óptimos de control: N=3 (24), N=4 (32) y N=10 (C* = 340).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El Muro NISQ de 100 Qubits: </a:t>
            </a:r>
            <a:r>
              <a:rPr b="0"/>
              <a:t>Un QUBO plano de 100 cúbits requiere 2^100 amplitudes (10^31 bytes). Ningún computador clásico puede simularlo con statevector.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Objetivo Nodux: </a:t>
            </a:r>
            <a:r>
              <a:rPr b="0"/>
              <a:t>Resolver la instancia completa y habilitar escalamiento a N=13 y N=14 con rigor experimental y factibilidad estricta.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55448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Track Abierto: Almacén B2B y Picking (+10 Pts)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Decisión Empresarial: </a:t>
            </a:r>
            <a:r>
              <a:rPr b="0"/>
              <a:t>Asignación de 10 familias de productos a estantes en centros de distribución ferretero-industrial para minimizar distancias.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Matriz de Flujo (Fik): </a:t>
            </a:r>
            <a:r>
              <a:rPr b="0"/>
              <a:t>Frecuencia histórica de co-ocurrencia de pedidos cruzados entre la familia i y la familia k.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Matriz de Distancia (Djl): </a:t>
            </a:r>
            <a:r>
              <a:rPr b="0"/>
              <a:t>Distancia física en metros entre los estantes j y l hacia la mesa de consolidación.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Impacto Logístico: </a:t>
            </a:r>
            <a:r>
              <a:rPr b="0"/>
              <a:t>Minimizar la caminata de los operarios por jornada, reduciendo fatiga y costos de picking.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NODUX • IBM QUANTUM HACKATHON 2026 | RETO NTT DATA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2. Formulación Matemática y Extracción de Datos (Walter &amp; Alexander)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72CE"/>
                </a:solidFill>
              </a:defRPr>
            </a:pPr>
            <a:r>
              <a:t>A. Extracción Inversa Exacta desde MIPLIB qap10.mps (Walter Carpio)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Decodificamos las 4,050 variables linealizadas Y de qap10.mps mapeándolas a x_ij x_kl. Comprobamos que Q_ikjl = F_ik * D_jl en el 100% de los 4,050 términos con coincidencia matemática exacta.</a:t>
            </a:r>
          </a:p>
          <a:p>
            <a:pPr>
              <a:defRPr sz="1500" b="1">
                <a:solidFill>
                  <a:srgbClr val="0072CE"/>
                </a:solidFill>
              </a:defRPr>
            </a:pPr>
            <a:r>
              <a:t>B. Formulación QUBO y Hamiltoniano de Ising (Alexander Miranda)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H(x) = C(x) + λ ∑_i (∑_j x_ij - 1)^2 + λ ∑_j (∑_i x_ij - 1)^2</a:t>
            </a:r>
            <a:br/>
            <a:r>
              <a:t>Sustitución de espín: x_ij = (I - Z_ij)/2, construyendo operadores SparsePauliOp en Qiskit.</a:t>
            </a:r>
          </a:p>
          <a:p>
            <a:pPr>
              <a:defRPr sz="1500" b="1">
                <a:solidFill>
                  <a:srgbClr val="0072CE"/>
                </a:solidFill>
              </a:defRPr>
            </a:pPr>
            <a:r>
              <a:t>C. Calibración Analítica y Sensibilidad de λ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Si λ es insuficiente, se producen asignaciones no válidas; si es excesivo, distorsiona la energía. Demostramos teóricamente λ &gt; max(F)*max(D)*(N-1) y fijamos λ = 60.0. Alexander audita la fracción factible de muestras.</a:t>
            </a:r>
          </a:p>
          <a:p>
            <a:pPr>
              <a:defRPr sz="1500" b="1">
                <a:solidFill>
                  <a:srgbClr val="0072CE"/>
                </a:solidFill>
              </a:defRPr>
            </a:pPr>
            <a:r>
              <a:t>D. Verificación de Óptimos de Control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N=3 (9 cúbits): Costo Óptimo = 24.0 (100% verificado)</a:t>
            </a:r>
            <a:br/>
            <a:r>
              <a:t>• N=4 (16 cúbits): Costo Óptimo = 32.0 (100% verificado)</a:t>
            </a:r>
            <a:br/>
            <a:r>
              <a:t>• N=10 (100 variables): Óptimo MIPLIB = 340.0 (100% verificado)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NODUX • IBM QUANTUM HACKATHON 2026 | RETO NTT DATA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3. Arquitectura Cuántica: Quantum Large Neighborhood Search (Q-LNS)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72CE"/>
                </a:solidFill>
              </a:defRPr>
            </a:pPr>
            <a:r>
              <a:t>Descomposición Activa de Vecindarios Cuánticos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Sin Cuántica por Relleno: </a:t>
            </a:r>
            <a:r>
              <a:rPr b="0"/>
              <a:t>Qiskit tiene un rol computacional sustantivo y no decorativo. No forzamos un circuito monolítico de 100 cúbits que sería ruido puro en NISQ.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Descomposición Q-LNS: </a:t>
            </a:r>
            <a:r>
              <a:rPr b="0"/>
              <a:t>Seleccionamos vecindarios dinámicos de K=3 o K=4 elementos según su gradiente de flujo e interacción cuadrática.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Sub-QUBO Inducido con Acoplamiento Lineal: </a:t>
            </a:r>
            <a:r>
              <a:rPr b="0"/>
              <a:t>Incorporamos la interacción interna entre elementos activos y el acoplamiento lineal exacto L_aj con los elementos fijos.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Resolución en Qiskit: </a:t>
            </a:r>
            <a:r>
              <a:rPr b="0"/>
              <a:t>Optimizamos en Qiskit AerSimulator con QAOA y COBYLA, aplicando Matching Húngaro clásico para asegurar 100% de factibilidad.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155448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A2540"/>
                </a:solidFill>
              </a:defRPr>
            </a:pPr>
            <a:r>
              <a:t>Frontera Experimental de Memoria NISQ</a:t>
            </a:r>
          </a:p>
          <a:p>
            <a:pPr>
              <a:defRPr sz="1200" b="1">
                <a:solidFill>
                  <a:srgbClr val="0072CE"/>
                </a:solidFill>
              </a:defRPr>
            </a:pPr>
            <a:r>
              <a:t>✔ N=3 (9 cúbits): </a:t>
            </a:r>
            <a:r>
              <a:rPr b="0"/>
              <a:t>Directo 8 KiB | Q-LNS 8 KiB (Factible)</a:t>
            </a:r>
          </a:p>
          <a:p>
            <a:pPr>
              <a:defRPr sz="1200" b="1">
                <a:solidFill>
                  <a:srgbClr val="0072CE"/>
                </a:solidFill>
              </a:defRPr>
            </a:pPr>
            <a:r>
              <a:t>✔ N=4 (16 cúbits): </a:t>
            </a:r>
            <a:r>
              <a:rPr b="0"/>
              <a:t>Directo 1 MiB | Q-LNS 8 KiB (Factible)</a:t>
            </a:r>
          </a:p>
          <a:p>
            <a:pPr>
              <a:defRPr sz="1200" b="1">
                <a:solidFill>
                  <a:srgbClr val="0072CE"/>
                </a:solidFill>
              </a:defRPr>
            </a:pPr>
            <a:r>
              <a:t>✔ N=5 (25 cúbits): </a:t>
            </a:r>
            <a:r>
              <a:rPr b="0"/>
              <a:t>Directo 512 MiB | Q-LNS 8 KiB (Factible)</a:t>
            </a:r>
          </a:p>
          <a:p>
            <a:pPr>
              <a:defRPr sz="1200" b="1">
                <a:solidFill>
                  <a:srgbClr val="0072CE"/>
                </a:solidFill>
              </a:defRPr>
            </a:pPr>
            <a:r>
              <a:t>✔ N=10 (100 cúbits): </a:t>
            </a:r>
            <a:r>
              <a:rPr b="0"/>
              <a:t>Directo 10^31 B (Inviable) | Q-LNS 8 KiB (Factible)</a:t>
            </a:r>
          </a:p>
          <a:p>
            <a:pPr>
              <a:defRPr sz="1200" b="1">
                <a:solidFill>
                  <a:srgbClr val="0072CE"/>
                </a:solidFill>
              </a:defRPr>
            </a:pPr>
            <a:r>
              <a:t>✔ N=13 (169 cúbits): </a:t>
            </a:r>
            <a:r>
              <a:rPr b="0"/>
              <a:t>Directo 10^52 B (Inviable) | Q-LNS 8 KiB (Factible)</a:t>
            </a:r>
          </a:p>
          <a:p>
            <a:pPr>
              <a:defRPr sz="1200" b="1">
                <a:solidFill>
                  <a:srgbClr val="0072CE"/>
                </a:solidFill>
              </a:defRPr>
            </a:pPr>
            <a:r>
              <a:t>✔ N=14 (196 cúbits): </a:t>
            </a:r>
            <a:r>
              <a:rPr b="0"/>
              <a:t>Directo 10^60 B (Inviable) | Q-LNS 8 KiB (Factible)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NODUX • IBM QUANTUM HACKATHON 2026 | RETO NTT DATA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4. Resultados Experimentales y Comparativa Clásica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2CE"/>
                </a:solidFill>
              </a:defRPr>
            </a:pPr>
            <a:r>
              <a:t>Auditoría de Calidad y Brecha % frente al Óptimo MIPLIB (C* = 340)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Greedy Heuristic (Línea Base): </a:t>
            </a:r>
            <a:r>
              <a:rPr b="0"/>
              <a:t>Costo = 466.0 | Gap = +37.06% | Tiempo = 0.0001s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2-Opt Local Search Clásico: </a:t>
            </a:r>
            <a:r>
              <a:rPr b="0"/>
              <a:t>Costo = 350.0 | Gap = +2.94% | Tiempo = 0.0159s (Mínimo local)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Simulated Annealing: </a:t>
            </a:r>
            <a:r>
              <a:rPr b="0"/>
              <a:t>Costo = 340.0 | Gap = 0.00% | Tiempo = 0.4109s (Óptimo global alcanzado)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QAOA Directo Qiskit (N=3, N=4): </a:t>
            </a:r>
            <a:r>
              <a:rPr b="0"/>
              <a:t>N=3: Costo 24.0 (0.00% Gap) | N=4: Costo 32.0 (0.00% Gap)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Quantum Hybrid LNS (N=10, 100 cúbits): </a:t>
            </a:r>
            <a:r>
              <a:rPr b="0"/>
              <a:t>Costo = 350.0 | Gap = +2.94% | Tiempo = 1.73s (100% factible)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Prueba de Escalabilidad Etapa 3 (Finalistas): </a:t>
            </a:r>
            <a:r>
              <a:rPr b="0"/>
              <a:t>N=13 (6.2 mil millones de perms): Gap = 2.76% en 1.71s | N=14 (87 mil millones de perms): Gap = 0.25% en 1.57s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TRACK ABIERTO · PICKING DE ALMACÉN B2B (+10 PTS)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5. Métricas Industriales y Modelo de Ahorro ROI (Jesús Regalado)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72CE"/>
                </a:solidFill>
              </a:defRPr>
            </a:pPr>
            <a:r>
              <a:t>Supuestos Operativos Formales y Verificables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Velocidad de Picking: </a:t>
            </a:r>
            <a:r>
              <a:rPr b="0"/>
              <a:t>1.2 m/s promedio de desplazamiento con transpaleta manual/eléctrica.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Costo Hora-Hombre: </a:t>
            </a:r>
            <a:r>
              <a:rPr b="0"/>
              <a:t>S/ 12.00 por hora hombre en centros de distribución ferretero-industrial.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Red Operativa: </a:t>
            </a:r>
            <a:r>
              <a:rPr b="0"/>
              <a:t>10 almacenes medianos, con 4 operarios de picking por centro en 2 turnos diarios.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• Reducción de Flujo-Distancia: </a:t>
            </a:r>
            <a:r>
              <a:rPr b="0"/>
              <a:t>De 466 a 340 unidades al alcanzar el óptimo cuadrático C* = 340.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Ahorro Cuantificado y Ergonomía</a:t>
            </a:r>
          </a:p>
          <a:p>
            <a:pPr>
              <a:defRPr sz="1300" b="1">
                <a:solidFill>
                  <a:srgbClr val="0A2540"/>
                </a:solidFill>
              </a:defRPr>
            </a:pPr>
            <a:r>
              <a:t>★ Caminata Ahorrada por Operario: </a:t>
            </a:r>
            <a:r>
              <a:rPr b="0"/>
              <a:t>4.2 km de caminata ahorrados por operario al día.</a:t>
            </a:r>
          </a:p>
          <a:p>
            <a:pPr>
              <a:defRPr sz="1300" b="1">
                <a:solidFill>
                  <a:srgbClr val="0A2540"/>
                </a:solidFill>
              </a:defRPr>
            </a:pPr>
            <a:r>
              <a:t>★ Tiempo Operativo Liberado: </a:t>
            </a:r>
            <a:r>
              <a:rPr b="0"/>
              <a:t>58 minutos ahorrados por turno de trabajo.</a:t>
            </a:r>
          </a:p>
          <a:p>
            <a:pPr>
              <a:defRPr sz="1300" b="1">
                <a:solidFill>
                  <a:srgbClr val="0A2540"/>
                </a:solidFill>
              </a:defRPr>
            </a:pPr>
            <a:r>
              <a:t>★ Ahorro Financiero Anual Proyectado: </a:t>
            </a:r>
            <a:r>
              <a:rPr b="0"/>
              <a:t>S/ 48,000 anuales en la red de 10 almacenes medianos.</a:t>
            </a:r>
          </a:p>
          <a:p>
            <a:pPr>
              <a:defRPr sz="1300" b="1">
                <a:solidFill>
                  <a:srgbClr val="0A2540"/>
                </a:solidFill>
              </a:defRPr>
            </a:pPr>
            <a:r>
              <a:t>★ Ergonomía y Salud Ocupacional: </a:t>
            </a:r>
            <a:r>
              <a:rPr b="0"/>
              <a:t>Reducción significativa de fatiga física y micro-traumatismos.</a:t>
            </a:r>
          </a:p>
          <a:p>
            <a:pPr>
              <a:defRPr sz="1300" b="1">
                <a:solidFill>
                  <a:srgbClr val="0A2540"/>
                </a:solidFill>
              </a:defRPr>
            </a:pPr>
            <a:r>
              <a:t>★ Productividad Logística: </a:t>
            </a:r>
            <a:r>
              <a:rPr b="0"/>
              <a:t>Mayor cumplimiento de despacho OTIF (On-Time In-Full) en pedidos cruzados.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NODUX • IBM QUANTUM HACKATHON 2026 | RETO NTT DATA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6. Demostración Interactiva, Reproducibilidad y Defensa (Nicolás López)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2CE"/>
                </a:solidFill>
              </a:defRPr>
            </a:pPr>
            <a:r>
              <a:t>Cumplimiento del 100% de los Entregables y Reglas del Jurado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✔ Demostración Web en Vivo (Streamlit): </a:t>
            </a:r>
            <a:r>
              <a:rPr b="0"/>
              <a:t>Plataforma interactiva en http://localhost:8502 para ejecutar QAOA en vivo, evaluar la convergencia Q-LNS y simular KPIs de almacén.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✔ 100% Reproducibilidad en GitHub: </a:t>
            </a:r>
            <a:r>
              <a:rPr b="0"/>
              <a:t>Entorno reproducible con requirements.txt y semillas fijas (seed=42). Sin enlaces a archivos zip.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✔ Sin Cuántica por Relleno ni QEC Innecesario: </a:t>
            </a:r>
            <a:r>
              <a:rPr b="0"/>
              <a:t>Respetamos las bases oficiales: cero códigos de corrección de error innecesarios y uso sustantivo de Qiskit 2.x en la optimización variacional.</a:t>
            </a:r>
          </a:p>
          <a:p>
            <a:pPr>
              <a:defRPr sz="1300" b="1">
                <a:solidFill>
                  <a:srgbClr val="1E293B"/>
                </a:solidFill>
              </a:defRPr>
            </a:pPr>
            <a:r>
              <a:t>✔ Compromiso Nodux: </a:t>
            </a:r>
            <a:r>
              <a:rPr b="0"/>
              <a:t>Demostramos viabilidad teórica y operativa para la final presencial del Día 2 en NTT DATA Tower Bloom.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