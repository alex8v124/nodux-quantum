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solidFill>
              <a:srgbClr val="0A2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B4D8"/>
                </a:solidFill>
              </a:defRPr>
            </a:pPr>
            <a:r>
              <a:t>NODUX • QISKIT FALL FEST LIMA 2026 · RETO INDUSTRIA NTT DATA</a:t>
            </a:r>
          </a:p>
          <a:p>
            <a:pPr>
              <a:defRPr sz="4600" b="1">
                <a:solidFill>
                  <a:srgbClr val="FFFFFF"/>
                </a:solidFill>
              </a:defRPr>
            </a:pPr>
            <a:r>
              <a:t>NODUX QAP10</a:t>
            </a:r>
          </a:p>
          <a:p>
            <a:pPr>
              <a:defRPr sz="2000">
                <a:solidFill>
                  <a:srgbClr val="E2E8F0"/>
                </a:solidFill>
              </a:defRPr>
            </a:pPr>
            <a:r>
              <a:t>Optimización Cuántica e Híbrida de un Problema de Asignación Cuadrática (MIPLIB qap10)</a:t>
            </a:r>
          </a:p>
          <a:p>
            <a:br/>
            <a:pPr>
              <a:defRPr sz="1500" b="1">
                <a:solidFill>
                  <a:srgbClr val="10B981"/>
                </a:solidFill>
              </a:defRPr>
            </a:pPr>
            <a:r>
              <a:t>★ JUGADA DE BONIFICACIÓN: Optimización de Almacén B2B y Picking de Alta Rotación (+10 PTS)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Célula: Nicolás López (CEO) · Alexander Miranda (CTO) · Walter Carpio (Data &amp; BI) · Jesús Regalado (COO)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NODUX • IBM QUANTUM HACKATHON 2026 | RETO NTT DATA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1. El Reto: Asignación B2B y el Problema QAP10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El Desafío MIPLIB qap10 (NP-Hard)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Espacio de Búsqueda Masivo: </a:t>
            </a:r>
            <a:r>
              <a:rPr b="0"/>
              <a:t>10! = 3,628,800 permutaciones factibles. Cada decisión de ubicación acopla cuadráticamente a todas las demás.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Ground Truth Matemático: </a:t>
            </a:r>
            <a:r>
              <a:rPr b="0"/>
              <a:t>Instancia oficial qap10.mps con 4,150 variables binarias totales (100 de asignación X y 4,050 linealizadas Y). Óptimos de control: N=3 (24), N=4 (32) y N=10 (C* = 340).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El Muro NISQ de 100 Qubits: </a:t>
            </a:r>
            <a:r>
              <a:rPr b="0"/>
              <a:t>Un QUBO plano de 100 cúbits requiere 2^100 amplitudes (2×10^31 bytes ≈ 20 millones de Yottabytes). Ningún computador clásico puede simularlo con vector de estado.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Objetivo Nodux: </a:t>
            </a:r>
            <a:r>
              <a:rPr b="0"/>
              <a:t>Demostrar utilidad metodológica cuántica con Q-LNS, escalando a N=13 y N=14 con memoria acotada (8 KiB) y factibilidad estricta.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55448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Track Abierto: Almacén B2B y Picking (+10 Pts)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Decisión Empresarial: </a:t>
            </a:r>
            <a:r>
              <a:rPr b="0"/>
              <a:t>Asignación de 10 familias de productos a estantes en centros de distribución ferretero-industrial para minimizar distancias.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Matriz de Flujo (Fik): </a:t>
            </a:r>
            <a:r>
              <a:rPr b="0"/>
              <a:t>Frecuencia histórica de co-ocurrencia de pedidos cruzados entre la familia i y la familia k.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Matriz de Distancia (Djl): </a:t>
            </a:r>
            <a:r>
              <a:rPr b="0"/>
              <a:t>Distancia física en metros entre los estantes j y l hacia la mesa de consolidación.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Impacto Logístico: </a:t>
            </a:r>
            <a:r>
              <a:rPr b="0"/>
              <a:t>Minimizar la caminata de los operarios por jornada, reduciendo fatiga y costos de picking.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NODUX • IBM QUANTUM HACKATHON 2026 | RETO NTT DATA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2. Formulación Matemática y Extracción de Datos (Walter &amp; Alexander)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72CE"/>
                </a:solidFill>
              </a:defRPr>
            </a:pPr>
            <a:r>
              <a:t>A. Extracción Inversa Exacta desde MIPLIB qap10.mps (Walter Carpio)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El archivo contiene 4,150 variables binarias totales: 100 variables de asignación X_ij y 4,050 variables linealizadas Y con coeficiente en NOBJ. Comprobamos que Q_ikjl = F_ik * D_jl en el 100% de los 4,050 términos con coincidencia matemática exacta.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B. Formulación QUBO y Hamiltoniano de Ising (Alexander Miranda)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H(x) = C(x) + λ ∑_i (∑_j x_ij - 1)^2 + λ ∑_j (∑_i x_ij - 1)^2</a:t>
            </a:r>
            <a:br/>
            <a:r>
              <a:t>Sustitución de espín: x_ij = (I - Z_ij)/2, construyendo operadores SparsePauliOp en Qiskit.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C. Calibración Analítica y Derivación Única de λ = 60.0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Para garantizar que ningún estado infactible tenga menor energía que el óptimo factible: λ &gt; ΔC_max = max_i(∑_{k≠i} F_ik) · max(D). Para el núcleo N=3, ΔC_max = 16 × 2 = 32.0 (cota superior conservadora: (N-1)·max(F)·max(D) = 40.0). Fijamos λ = 60.0 con 50% de margen de seguridad frente a fluctuaciones variacionales.</a:t>
            </a:r>
          </a:p>
          <a:p>
            <a:pPr>
              <a:defRPr sz="1500" b="1">
                <a:solidFill>
                  <a:srgbClr val="0072CE"/>
                </a:solidFill>
              </a:defRPr>
            </a:pPr>
            <a:r>
              <a:t>D. Verificación de Óptimos de Control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N=3 (9 cúbits): Costo Óptimo = 24.0 (100% verificado)</a:t>
            </a:r>
            <a:br/>
            <a:r>
              <a:t>• N=4 (16 cúbits): Costo Óptimo = 32.0 (100% verificado)</a:t>
            </a:r>
            <a:br/>
            <a:r>
              <a:t>• N=10 (100 variables): Óptimo MIPLIB = 340.0 (100% verificado)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NODUX • IBM QUANTUM HACKATHON 2026 | RETO NTT DATA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3. Arquitectura Cuántica: Quantum Large Neighborhood Search (Q-LNS)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2CE"/>
                </a:solidFill>
              </a:defRPr>
            </a:pPr>
            <a:r>
              <a:t>Descomposición Activa de Vecindarios Cuánticos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Sin Cuántica por Relleno: </a:t>
            </a:r>
            <a:r>
              <a:rPr b="0"/>
              <a:t>Qiskit tiene un rol computacional sustantivo y no decorativo. No forzamos un circuito monolítico de 100 cúbits que sería ruido puro en NISQ.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Descomposición Q-LNS: </a:t>
            </a:r>
            <a:r>
              <a:rPr b="0"/>
              <a:t>Seleccionamos vecindarios dinámicos de K=3 o K=4 elementos según su gradiente de flujo e interacción cuadrática.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Sub-QUBO Inducido con Acoplamiento Lineal: </a:t>
            </a:r>
            <a:r>
              <a:rPr b="0"/>
              <a:t>Incorporamos la interacción interna entre elementos activos y el acoplamiento lineal exacto L_aj con los elementos fijos.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Resolución en Qiskit: </a:t>
            </a:r>
            <a:r>
              <a:rPr b="0"/>
              <a:t>Optimizamos en Qiskit AerSimulator con QAOA y COBYLA, aplicando Matching Húngaro clásico para asegurar 100% de factibilidad.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55448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A2540"/>
                </a:solidFill>
              </a:defRPr>
            </a:pPr>
            <a:r>
              <a:t>Frontera Experimental de Memoria NISQ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N=3 (9 cúbits): </a:t>
            </a:r>
            <a:r>
              <a:rPr b="0"/>
              <a:t>Directo 8 KiB | Q-LNS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N=4 (16 cúbits): </a:t>
            </a:r>
            <a:r>
              <a:rPr b="0"/>
              <a:t>Directo 1 MiB | Q-LNS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N=5 (25 cúbits): </a:t>
            </a:r>
            <a:r>
              <a:rPr b="0"/>
              <a:t>Directo 512 MiB | Q-LNS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N=10 (100 cúbits): </a:t>
            </a:r>
            <a:r>
              <a:rPr b="0"/>
              <a:t>Directo 10^31 B (Inviable) | Q-LNS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N=13 (169 cúbits): </a:t>
            </a:r>
            <a:r>
              <a:rPr b="0"/>
              <a:t>Directo 10^52 B (Inviable) | Q-LNS 8 KiB (Factible)</a:t>
            </a:r>
          </a:p>
          <a:p>
            <a:pPr>
              <a:defRPr sz="1200" b="1">
                <a:solidFill>
                  <a:srgbClr val="0072CE"/>
                </a:solidFill>
              </a:defRPr>
            </a:pPr>
            <a:r>
              <a:t>✔ N=14 (196 cúbits): </a:t>
            </a:r>
            <a:r>
              <a:rPr b="0"/>
              <a:t>Directo 10^60 B (Inviable) | Q-LNS 8 KiB (Factible)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NODUX • IBM QUANTUM HACKATHON 2026 | RETO NTT DATA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4. Resultados Experimentales y Comparativa Clásica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Auditoría de Calidad y Brecha % frente al Óptimo MIPLIB (C* = 340)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Greedy Heuristic (Línea Base): </a:t>
            </a:r>
            <a:r>
              <a:rPr b="0"/>
              <a:t>Costo = 466.0 | Gap = +37.06% | Tiempo = 0.0001s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2-Opt Local Search Clásico: </a:t>
            </a:r>
            <a:r>
              <a:rPr b="0"/>
              <a:t>Costo = 350.0 | Gap = +2.94% | Tiempo = 0.0159s (Mínimo local)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Simulated Annealing: </a:t>
            </a:r>
            <a:r>
              <a:rPr b="0"/>
              <a:t>Costo = 340.0 | Gap = 0.00% | Tiempo = 0.4109s (Óptimo clásico de referencia)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QAOA Directo Qiskit (N=3, N=4): </a:t>
            </a:r>
            <a:r>
              <a:rPr b="0"/>
              <a:t>N=3: Costo 24.0 (0.00% Gap, 0.19s) | N=4: Costo 32.0 (0.00% Gap, 6.21s)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Quantum Hybrid LNS (N=10, 100 cúbits): </a:t>
            </a:r>
            <a:r>
              <a:rPr b="0"/>
              <a:t>Costo = 350.0 | Gap = +2.94% | Tiempo = 2.21s (100% factible con decodificador húngaro)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Prueba de Escalabilidad Etapa 3 (Finalistas): </a:t>
            </a:r>
            <a:r>
              <a:rPr b="0"/>
              <a:t>N=13 (6.2 mil millones de perms): Costo = 670.0 (Gap = 2.76% vs SA 652) en 1.71s | N=14 (87 mil millones de perms): Costo = 800.0 (Gap = 0.25% vs SA 798) en 1.57s | Memoria cuántica acotada a 8 KiB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• Rigor y Enfoque Científico: </a:t>
            </a:r>
            <a:r>
              <a:rPr b="0"/>
              <a:t>Demostramos Utilidad Metodológica Cuántica: Qiskit resuelve exactamente el subproblema activo y Q-LNS desacopla la intratabilidad de 100 cúbits.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TRACK ABIERTO · PICKING DE ALMACÉN B2B (+10 PTS)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5. Métricas Industriales y Modelo de Ahorro ROI (Jesús Regalado)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2CE"/>
                </a:solidFill>
              </a:defRPr>
            </a:pPr>
            <a:r>
              <a:t>Supuestos Operativos Formales y Verificables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Velocidad de Picking: </a:t>
            </a:r>
            <a:r>
              <a:rPr b="0"/>
              <a:t>1.2 m/s promedio de desplazamiento con transpaleta manual/eléctrica.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Costo Hora-Hombre: </a:t>
            </a:r>
            <a:r>
              <a:rPr b="0"/>
              <a:t>S/ 12.00 por hora hombre en centros de distribución ferretero-industrial.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Dotación por Almacén: </a:t>
            </a:r>
            <a:r>
              <a:rPr b="0"/>
              <a:t>4 operarios por turno en 2 turnos diarios (8 operarios activos) durante 300 días laborales.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• Reducción de Flujo-Distancia: </a:t>
            </a:r>
            <a:r>
              <a:rPr b="0"/>
              <a:t>De 466 a 340 unidades ponderadas (reducción del 27.04% al óptimo global; 24.89% con Q-LNS a 350).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5544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Ahorro Cuantificado y ROI Visible (+320%)</a:t>
            </a:r>
          </a:p>
          <a:p>
            <a:pPr>
              <a:defRPr sz="1200" b="1">
                <a:solidFill>
                  <a:srgbClr val="0A2540"/>
                </a:solidFill>
              </a:defRPr>
            </a:pPr>
            <a:r>
              <a:t>★ Caminata Ahorrada por Operario: </a:t>
            </a:r>
            <a:r>
              <a:rPr b="0"/>
              <a:t>4.2 km de caminata menos al día por operario.</a:t>
            </a:r>
          </a:p>
          <a:p>
            <a:pPr>
              <a:defRPr sz="1200" b="1">
                <a:solidFill>
                  <a:srgbClr val="0A2540"/>
                </a:solidFill>
              </a:defRPr>
            </a:pPr>
            <a:r>
              <a:t>★ Tiempo Operativo Liberado: </a:t>
            </a:r>
            <a:r>
              <a:rPr b="0"/>
              <a:t>58 minutos ahorrados por operario al día (4,200m / 1.2m/s = 3,500s).</a:t>
            </a:r>
          </a:p>
          <a:p>
            <a:pPr>
              <a:defRPr sz="1200" b="1">
                <a:solidFill>
                  <a:srgbClr val="0A2540"/>
                </a:solidFill>
              </a:defRPr>
            </a:pPr>
            <a:r>
              <a:t>★ Ahorro Financiero por Almacén: </a:t>
            </a:r>
            <a:r>
              <a:rPr b="0"/>
              <a:t>S/ 28,000 anuales por centro de distribución (8 operarios × 58.3 min × 300 días × S/ 12/h).</a:t>
            </a:r>
          </a:p>
          <a:p>
            <a:pPr>
              <a:defRPr sz="1200" b="1">
                <a:solidFill>
                  <a:srgbClr val="0A2540"/>
                </a:solidFill>
              </a:defRPr>
            </a:pPr>
            <a:r>
              <a:t>★ Impacto en Red (10 Almacenes): </a:t>
            </a:r>
            <a:r>
              <a:rPr b="0"/>
              <a:t>S/ 280,000 anuales ahorrados en la red nacional.</a:t>
            </a:r>
          </a:p>
          <a:p>
            <a:pPr>
              <a:defRPr sz="1200" b="1">
                <a:solidFill>
                  <a:srgbClr val="0A2540"/>
                </a:solidFill>
              </a:defRPr>
            </a:pPr>
            <a:r>
              <a:t>★ Fórmula de ROI Demostrable: </a:t>
            </a:r>
            <a:r>
              <a:rPr b="0"/>
              <a:t>Inversión: S/ 6,600/almacén (S/ 66k red). ROI = (28,000 - 6,600)/6,600 = +321.8% (~+320%).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B4D8"/>
                </a:solidFill>
              </a:defRPr>
            </a:pPr>
            <a:r>
              <a:t>NODUX • IBM QUANTUM HACKATHON 2026 | RETO NTT DATA</a:t>
            </a:r>
          </a:p>
          <a:p>
            <a:pPr>
              <a:defRPr sz="2400" b="1">
                <a:solidFill>
                  <a:srgbClr val="0A2540"/>
                </a:solidFill>
              </a:defRPr>
            </a:pPr>
            <a:r>
              <a:t>6. Demostración Interactiva, Reproducibilidad y Defensa (Nicolás López)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Cumplimiento del 100% de los Entregables y Reglas del Jurado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Cockpit Oficial Ejecutivo en Vivo: </a:t>
            </a:r>
            <a:r>
              <a:rPr b="0"/>
              <a:t>Micro-API local en Flask (http://localhost:5000, latencia &lt; 50 ms) con visualización de asignación y Plan B Fail-Safe integrado.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100% Reproducibilidad en GitHub: </a:t>
            </a:r>
            <a:r>
              <a:rPr b="0"/>
              <a:t>Repositorio público (https://github.com/alex8v124/nodux-quantum.git) con requirements.txt y semillas fijas (seed=42).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Sin Cuántica por Relleno ni QEC Innecesario: </a:t>
            </a:r>
            <a:r>
              <a:rPr b="0"/>
              <a:t>Respetamos las bases oficiales: cero códigos de corrección de error innecesarios y uso sustantivo de Qiskit 2.x en la optimización variacional.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Utilidad Metodológica Cuántica: </a:t>
            </a:r>
            <a:r>
              <a:rPr b="0"/>
              <a:t>Honestidad científica ante el jurado: demostramos un framework de descomposición escalable para NISQ con impacto económico medible (+320% ROI).</a:t>
            </a:r>
          </a:p>
          <a:p>
            <a:pPr>
              <a:defRPr sz="1300" b="1">
                <a:solidFill>
                  <a:srgbClr val="1E293B"/>
                </a:solidFill>
              </a:defRPr>
            </a:pPr>
            <a:r>
              <a:t>✔ Compromiso Nodux: </a:t>
            </a:r>
            <a:r>
              <a:rPr b="0"/>
              <a:t>Demostramos viabilidad teórica y operativa para la final presencial del Día 2 en NTT DATA Tower Bloom.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